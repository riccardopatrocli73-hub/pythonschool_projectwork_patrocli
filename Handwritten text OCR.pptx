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9" r:id="rId11"/>
    <p:sldId id="270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1C3B-1BE2-4CF7-AFAA-5B516F4AC399}" type="datetimeFigureOut">
              <a:rPr lang="it-IT" smtClean="0"/>
              <a:t>21/10/2026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FE3A8-86B1-486C-A90C-AC1AD3BA6F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747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47134E-95BB-4641-9E4F-B6CD5F795FB6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AE92-8B65-40C2-98CA-8A88BC416DA6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861393-19C5-451C-9164-A8E39DEC44E9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B1EC-5BD1-4D51-A281-4C8315B2551E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40B5-E0E1-49E9-AFFA-B1F44A7DC98D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6318-19DD-4B88-BF0F-02B0F9C0104B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6E8F-8DB3-4C0B-8F75-E5FB5EE6A818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B76CED-1BB8-4492-AFED-C01F90285A3B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0EFA5C-3DA4-4D97-8FB5-406385DEE0AF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E0741-D303-44B4-9ABF-C4D299A9F5CC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DA43-DB71-493E-9C30-B37CE07F819C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977C99D-35E6-4FE3-8236-E6C61C7B902A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80122-5DE1-954A-7000-1B0649B7B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788454"/>
            <a:ext cx="8361229" cy="2098226"/>
          </a:xfrm>
        </p:spPr>
        <p:txBody>
          <a:bodyPr/>
          <a:lstStyle/>
          <a:p>
            <a:r>
              <a:rPr lang="it-IT" dirty="0"/>
              <a:t>Handwritten text OCR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EDE1A70-BA08-BE2C-DD3F-3A6DB08444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Patrocli Riccardo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4D0178-D909-D803-CE9D-3932AD56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86-AED0-4358-9591-3FA843EB2652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A721F1-4582-62E3-C7DF-65A91135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A2A8F4-1AED-AE83-61DC-BE7F958E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62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04D957-96A4-6362-32F8-73B2A11B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4088"/>
          </a:xfrm>
        </p:spPr>
        <p:txBody>
          <a:bodyPr>
            <a:normAutofit/>
          </a:bodyPr>
          <a:lstStyle/>
          <a:p>
            <a:r>
              <a:rPr lang="it-IT" sz="4000" dirty="0"/>
              <a:t>INDICE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52FD78-6CA4-E6F9-BBAE-A790AB17E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0" y="1545336"/>
            <a:ext cx="9601200" cy="3581400"/>
          </a:xfrm>
        </p:spPr>
        <p:txBody>
          <a:bodyPr/>
          <a:lstStyle/>
          <a:p>
            <a:pPr marL="457200" indent="-457200">
              <a:buAutoNum type="arabicParenR"/>
            </a:pPr>
            <a:r>
              <a:rPr lang="it-IT" dirty="0"/>
              <a:t>Introduzione</a:t>
            </a:r>
          </a:p>
          <a:p>
            <a:pPr marL="457200" indent="-457200">
              <a:buAutoNum type="arabicParenR"/>
            </a:pPr>
            <a:r>
              <a:rPr lang="it-IT" dirty="0"/>
              <a:t>Dataset e suddivisione dei dati</a:t>
            </a:r>
          </a:p>
          <a:p>
            <a:pPr marL="457200" indent="-457200">
              <a:buAutoNum type="arabicParenR"/>
            </a:pPr>
            <a:r>
              <a:rPr lang="it-IT" dirty="0"/>
              <a:t>Architettura CNN</a:t>
            </a:r>
          </a:p>
          <a:p>
            <a:pPr marL="457200" indent="-457200">
              <a:buAutoNum type="arabicParenR"/>
            </a:pPr>
            <a:r>
              <a:rPr lang="it-IT" dirty="0"/>
              <a:t>Pipeline di riconoscimento</a:t>
            </a:r>
          </a:p>
          <a:p>
            <a:pPr marL="457200" indent="-457200">
              <a:buAutoNum type="arabicParenR"/>
            </a:pPr>
            <a:r>
              <a:rPr lang="it-IT" dirty="0"/>
              <a:t>Tuning della segmentazione</a:t>
            </a:r>
          </a:p>
          <a:p>
            <a:pPr marL="457200" indent="-457200">
              <a:buAutoNum type="arabicParenR"/>
            </a:pPr>
            <a:r>
              <a:rPr lang="it-IT" dirty="0"/>
              <a:t>Tuning del riconoscimento</a:t>
            </a:r>
          </a:p>
          <a:p>
            <a:pPr marL="457200" indent="-457200">
              <a:buAutoNum type="arabicParenR"/>
            </a:pPr>
            <a:r>
              <a:rPr lang="it-IT" dirty="0"/>
              <a:t>Risultati e valutazione</a:t>
            </a:r>
          </a:p>
          <a:p>
            <a:pPr marL="457200" indent="-457200">
              <a:buAutoNum type="arabicParenR"/>
            </a:pPr>
            <a:r>
              <a:rPr lang="it-IT" dirty="0"/>
              <a:t>Difficoltà e sviluppi futuri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034228-441A-A049-F269-8EBBB3B5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14CD-9654-436D-AA16-5AD387A51B5C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BE58F1-0A19-6FED-BA52-3874799C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6E6F3F-B1AB-299A-26A4-B2575B44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9BAA22-3B3E-331E-7DFB-776A99F6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6656"/>
          </a:xfrm>
        </p:spPr>
        <p:txBody>
          <a:bodyPr>
            <a:normAutofit fontScale="90000"/>
          </a:bodyPr>
          <a:lstStyle/>
          <a:p>
            <a:r>
              <a:rPr lang="it-IT" dirty="0"/>
              <a:t>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7AA0D7-C41E-FB27-AC15-9A1B7514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2456"/>
            <a:ext cx="9601200" cy="96012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OBIETTIVO: </a:t>
            </a:r>
            <a:r>
              <a:rPr lang="it-IT" dirty="0"/>
              <a:t>Riconoscere caratteri, parole e brevi testi manoscritti</a:t>
            </a:r>
          </a:p>
          <a:p>
            <a:pPr marL="0" indent="0">
              <a:buNone/>
            </a:pPr>
            <a:r>
              <a:rPr lang="it-IT" b="1" dirty="0"/>
              <a:t>APPROCCIO: </a:t>
            </a:r>
            <a:r>
              <a:rPr lang="it-IT" dirty="0"/>
              <a:t>Elaborazione delle immagini, CNN e controllo linguistico e contestuale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76FBE20-F41A-37BD-DB96-E3945C2D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68" y="3485464"/>
            <a:ext cx="3740532" cy="109234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ED5BC2F-F73E-EB05-1192-914D79FF7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485464"/>
            <a:ext cx="3740532" cy="1092344"/>
          </a:xfrm>
          <a:prstGeom prst="rect">
            <a:avLst/>
          </a:prstGeom>
        </p:spPr>
      </p:pic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394762C9-C601-AB59-8E4D-B6FE92AC6EF1}"/>
              </a:ext>
            </a:extLst>
          </p:cNvPr>
          <p:cNvSpPr/>
          <p:nvPr/>
        </p:nvSpPr>
        <p:spPr>
          <a:xfrm>
            <a:off x="5180227" y="3588914"/>
            <a:ext cx="2002996" cy="885444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OCR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21F334-F487-92B2-5E44-1E9E4EF5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921D-35E0-46A4-8A72-CEBDCBA34FB4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6C6057-ADBE-0AEE-F3E3-FEAE6DEF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B784D6F-568C-A9C2-CE06-24487C05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7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5589C1-E1E6-0D5D-2848-B4AC3557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04747"/>
          </a:xfrm>
        </p:spPr>
        <p:txBody>
          <a:bodyPr>
            <a:normAutofit fontScale="90000"/>
          </a:bodyPr>
          <a:lstStyle/>
          <a:p>
            <a:r>
              <a:rPr lang="it-IT" dirty="0"/>
              <a:t>DATASET - EMNIST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34BC50E4-9785-592E-B9A7-265EEAA5D8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48088" y="3429000"/>
            <a:ext cx="4495824" cy="2656623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184B06-A489-F0A2-8C58-AA62641A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DE81-7389-4763-B724-B6319C1F4EC3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736CF9-3A1D-663C-DC11-BE53BBDE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78364B5-F82A-06A6-20FC-279A3603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615A9CF8-AEE2-8350-4C93-4C7082C67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00051"/>
              </p:ext>
            </p:extLst>
          </p:nvPr>
        </p:nvGraphicFramePr>
        <p:xfrm>
          <a:off x="1465072" y="1345241"/>
          <a:ext cx="10019793" cy="1809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931">
                  <a:extLst>
                    <a:ext uri="{9D8B030D-6E8A-4147-A177-3AD203B41FA5}">
                      <a16:colId xmlns:a16="http://schemas.microsoft.com/office/drawing/2014/main" val="2246967643"/>
                    </a:ext>
                  </a:extLst>
                </a:gridCol>
                <a:gridCol w="3339931">
                  <a:extLst>
                    <a:ext uri="{9D8B030D-6E8A-4147-A177-3AD203B41FA5}">
                      <a16:colId xmlns:a16="http://schemas.microsoft.com/office/drawing/2014/main" val="334788890"/>
                    </a:ext>
                  </a:extLst>
                </a:gridCol>
                <a:gridCol w="3339931">
                  <a:extLst>
                    <a:ext uri="{9D8B030D-6E8A-4147-A177-3AD203B41FA5}">
                      <a16:colId xmlns:a16="http://schemas.microsoft.com/office/drawing/2014/main" val="2430876270"/>
                    </a:ext>
                  </a:extLst>
                </a:gridCol>
              </a:tblGrid>
              <a:tr h="271677">
                <a:tc>
                  <a:txBody>
                    <a:bodyPr/>
                    <a:lstStyle/>
                    <a:p>
                      <a:r>
                        <a:rPr lang="it-IT" sz="1600" dirty="0"/>
                        <a:t>CARATTERISTICHE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SUDDIVISIONE DATI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535041"/>
                  </a:ext>
                </a:extLst>
              </a:tr>
              <a:tr h="147375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Dataset di caratteri manoscritti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Immagini in scala di grigi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Immagini 28x28 pixel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Classificazione di 26 lettere dell’alfabeto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Training set: 90%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Validation set: 10%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Test set separato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Normalizzazione valori pixel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Preparazione immagini per CNN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t-IT" sz="1600" dirty="0"/>
                        <a:t>Correzione orientamento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016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71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EAE096-8627-0BD2-FD05-6D50D694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6656"/>
          </a:xfrm>
        </p:spPr>
        <p:txBody>
          <a:bodyPr>
            <a:normAutofit fontScale="90000"/>
          </a:bodyPr>
          <a:lstStyle/>
          <a:p>
            <a:r>
              <a:rPr lang="it-IT" dirty="0"/>
              <a:t>ARCHITETTURA CNN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849FB64-32B1-5C90-5996-D60ED39BE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849"/>
          <a:stretch>
            <a:fillRect/>
          </a:stretch>
        </p:blipFill>
        <p:spPr>
          <a:xfrm>
            <a:off x="1201297" y="1742694"/>
            <a:ext cx="9789406" cy="3372611"/>
          </a:xfrm>
          <a:prstGeom prst="rect">
            <a:avLst/>
          </a:prstGeom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52C5930-5302-C94C-13FC-594989DCB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1E72-7EE7-418A-B711-AD59750BC4C9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169E36A-4194-E878-CE54-3E707855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7C46AA-5494-E4FB-E97B-2AD3AC6F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7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9061-87B6-F007-0F64-CC03127D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59B684-917B-BAAD-1F65-B06230BD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768096"/>
          </a:xfrm>
        </p:spPr>
        <p:txBody>
          <a:bodyPr/>
          <a:lstStyle/>
          <a:p>
            <a:r>
              <a:rPr lang="it-IT" sz="4000" dirty="0"/>
              <a:t>PIPELINE</a:t>
            </a:r>
            <a:r>
              <a:rPr lang="it-IT" dirty="0"/>
              <a:t> RICONOSCIMENTO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23D6BF3C-59C9-781A-939C-94473AC27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82"/>
          <a:stretch>
            <a:fillRect/>
          </a:stretch>
        </p:blipFill>
        <p:spPr>
          <a:xfrm>
            <a:off x="1201297" y="1733550"/>
            <a:ext cx="9789406" cy="3390899"/>
          </a:xfrm>
          <a:prstGeom prst="rect">
            <a:avLst/>
          </a:prstGeom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2A9746-CD08-CFAB-ABFF-4EE605BE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208B-2696-4203-9638-A8BED95BEED8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03ADCCC-F403-02E2-3F00-E9273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59A59D-85D1-03AD-5510-51D824B8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8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CCD60B-0952-9D77-FBC5-2245702F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640080"/>
          </a:xfrm>
        </p:spPr>
        <p:txBody>
          <a:bodyPr>
            <a:normAutofit fontScale="90000"/>
          </a:bodyPr>
          <a:lstStyle/>
          <a:p>
            <a:r>
              <a:rPr lang="it-IT" dirty="0"/>
              <a:t>TUNING SEGMENTAZIONE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C68D5A-C692-5B7D-9EFF-D5004B135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5880"/>
            <a:ext cx="9601200" cy="5010911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Obiettivo: Isolare i caratteri preservando i tratti utili.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C7DA2DC-A210-D659-2949-172571C93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511271"/>
              </p:ext>
            </p:extLst>
          </p:nvPr>
        </p:nvGraphicFramePr>
        <p:xfrm>
          <a:off x="1371600" y="1741932"/>
          <a:ext cx="9601200" cy="4009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>
                  <a:extLst>
                    <a:ext uri="{9D8B030D-6E8A-4147-A177-3AD203B41FA5}">
                      <a16:colId xmlns:a16="http://schemas.microsoft.com/office/drawing/2014/main" val="3466793514"/>
                    </a:ext>
                  </a:extLst>
                </a:gridCol>
                <a:gridCol w="2727960">
                  <a:extLst>
                    <a:ext uri="{9D8B030D-6E8A-4147-A177-3AD203B41FA5}">
                      <a16:colId xmlns:a16="http://schemas.microsoft.com/office/drawing/2014/main" val="2402330971"/>
                    </a:ext>
                  </a:extLst>
                </a:gridCol>
                <a:gridCol w="2406396">
                  <a:extLst>
                    <a:ext uri="{9D8B030D-6E8A-4147-A177-3AD203B41FA5}">
                      <a16:colId xmlns:a16="http://schemas.microsoft.com/office/drawing/2014/main" val="230777338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600822118"/>
                    </a:ext>
                  </a:extLst>
                </a:gridCol>
              </a:tblGrid>
              <a:tr h="560306">
                <a:tc>
                  <a:txBody>
                    <a:bodyPr/>
                    <a:lstStyle/>
                    <a:p>
                      <a:r>
                        <a:rPr lang="it-IT" sz="1600" dirty="0"/>
                        <a:t>PARAMETRO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VARIABILI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CONTROLLO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COMPROMESSO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57616"/>
                  </a:ext>
                </a:extLst>
              </a:tr>
              <a:tr h="874997">
                <a:tc>
                  <a:txBody>
                    <a:bodyPr/>
                    <a:lstStyle/>
                    <a:p>
                      <a:r>
                        <a:rPr lang="it-IT" sz="1600" dirty="0"/>
                        <a:t>Area e altezza minime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minimum_area</a:t>
                      </a:r>
                      <a:endParaRPr lang="it-IT" sz="16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minimum_height</a:t>
                      </a:r>
                      <a:r>
                        <a:rPr lang="it-IT" sz="16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Eliminazione componenti piccole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Rimozione del rumore ↔ Conservazione dettagli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57535"/>
                  </a:ext>
                </a:extLst>
              </a:tr>
              <a:tr h="928421">
                <a:tc>
                  <a:txBody>
                    <a:bodyPr/>
                    <a:lstStyle/>
                    <a:p>
                      <a:r>
                        <a:rPr lang="it-IT" sz="1600" dirty="0"/>
                        <a:t>Soglia di larghezza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width_limit</a:t>
                      </a:r>
                      <a:endParaRPr lang="it-IT" sz="16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Individuazione lettere unite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Separazione lettere collegate ↔ Evitare di spezzare lettere larghe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039424"/>
                  </a:ext>
                </a:extLst>
              </a:tr>
              <a:tr h="560306">
                <a:tc>
                  <a:txBody>
                    <a:bodyPr/>
                    <a:lstStyle/>
                    <a:p>
                      <a:r>
                        <a:rPr lang="it-IT" sz="1600" dirty="0"/>
                        <a:t>Penalità dei tagli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SEGMENT_SPLIT_PENALTY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Accettazione delle separazioni proposte, con supporto della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Più separazioni ↔ Prudenza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217893"/>
                  </a:ext>
                </a:extLst>
              </a:tr>
              <a:tr h="560306">
                <a:tc>
                  <a:txBody>
                    <a:bodyPr/>
                    <a:lstStyle/>
                    <a:p>
                      <a:r>
                        <a:rPr lang="it-IT" sz="1600" dirty="0"/>
                        <a:t>Soglia sugli spazi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word_gap_threshold</a:t>
                      </a:r>
                      <a:endParaRPr lang="it-IT" sz="16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Raggruppamento dei caratteri in parole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Evitare parole unite ↔ Evitare divisioni eccessive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41151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BCADCFF1-5DC9-7310-B52F-74C5A8D2E625}"/>
              </a:ext>
            </a:extLst>
          </p:cNvPr>
          <p:cNvSpPr txBox="1"/>
          <p:nvPr/>
        </p:nvSpPr>
        <p:spPr>
          <a:xfrm>
            <a:off x="1371600" y="5815584"/>
            <a:ext cx="944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Metodo: Osservare i riquadri, modificare i parametri e confrontare i risultati.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CC94E67-DABF-C13C-6CBC-199E6658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3137-24C7-4E1E-82F6-A213F545370F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54526C6-962F-C4EB-4A26-55A62298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BE3C0E6-AFFF-6CF3-6F1C-73B47D81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1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D66C2F-956D-9B37-456E-CC6B0C9D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86895"/>
          </a:xfrm>
        </p:spPr>
        <p:txBody>
          <a:bodyPr>
            <a:normAutofit fontScale="90000"/>
          </a:bodyPr>
          <a:lstStyle/>
          <a:p>
            <a:r>
              <a:rPr lang="it-IT" dirty="0"/>
              <a:t>TUNING RICONOSCIMENTO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CA2D43FC-6C98-012A-73CC-7F28A0D7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0" y="1272695"/>
            <a:ext cx="9601200" cy="3215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Obiettivo: Gestire </a:t>
            </a:r>
            <a:r>
              <a:rPr lang="it-IT" sz="1900" dirty="0"/>
              <a:t>l’incertezza</a:t>
            </a:r>
            <a:r>
              <a:rPr lang="it-IT" dirty="0"/>
              <a:t> della CNN e migliorare la ricostruzione delle parole.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F812875-EBEB-7FBE-B8FF-8CCE7F05D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762103"/>
              </p:ext>
            </p:extLst>
          </p:nvPr>
        </p:nvGraphicFramePr>
        <p:xfrm>
          <a:off x="1467828" y="1594259"/>
          <a:ext cx="9601200" cy="4125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346679351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40233097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307773381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1600822118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r>
                        <a:rPr lang="it-IT" sz="1600" dirty="0"/>
                        <a:t>PARAMETRO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VARIABILI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CONTROLLO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COMPROMESSO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57616"/>
                  </a:ext>
                </a:extLst>
              </a:tr>
              <a:tr h="917454">
                <a:tc>
                  <a:txBody>
                    <a:bodyPr/>
                    <a:lstStyle/>
                    <a:p>
                      <a:r>
                        <a:rPr lang="it-IT" sz="1600" dirty="0"/>
                        <a:t>Soglia di confidenza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confidence_threshold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Segnalazione dei caratteri incerti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Individuare più casi dubbi ↔ Evitare segnalazioni eccessive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57535"/>
                  </a:ext>
                </a:extLst>
              </a:tr>
              <a:tr h="865626">
                <a:tc>
                  <a:txBody>
                    <a:bodyPr/>
                    <a:lstStyle/>
                    <a:p>
                      <a:r>
                        <a:rPr lang="it-IT" sz="1600" dirty="0"/>
                        <a:t>Alternative per carattere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top_k</a:t>
                      </a:r>
                      <a:endParaRPr lang="it-IT" sz="16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Numero di lettere candidate per ogni posizione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Recuperare alternative corrette ↔ Aumentare le combinazioni da valutare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039424"/>
                  </a:ext>
                </a:extLst>
              </a:tr>
              <a:tr h="607220">
                <a:tc>
                  <a:txBody>
                    <a:bodyPr/>
                    <a:lstStyle/>
                    <a:p>
                      <a:r>
                        <a:rPr lang="it-IT" sz="1600" dirty="0"/>
                        <a:t>Ampiezza </a:t>
                      </a:r>
                      <a:r>
                        <a:rPr lang="it-IT" sz="1600" dirty="0" err="1"/>
                        <a:t>beam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search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beam_width</a:t>
                      </a:r>
                      <a:r>
                        <a:rPr lang="it-IT" sz="16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Numero di candidati di parola mantenuti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Esplorare più ipotesi ↔ Contenere il costo di elaborazione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217893"/>
                  </a:ext>
                </a:extLst>
              </a:tr>
              <a:tr h="862892">
                <a:tc>
                  <a:txBody>
                    <a:bodyPr/>
                    <a:lstStyle/>
                    <a:p>
                      <a:r>
                        <a:rPr lang="it-IT" sz="1600" dirty="0"/>
                        <a:t>Distanza massima di modifica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Franklin Gothic Book" panose="020B0503020102020204" pitchFamily="34" charset="0"/>
                        <a:buNone/>
                      </a:pPr>
                      <a:r>
                        <a:rPr lang="it-IT" sz="16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max_edit_distance</a:t>
                      </a:r>
                      <a:endParaRPr lang="it-IT" sz="16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Numero massimo di modifiche ammesse nella ricerca delle correzioni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Recuperare errori più complessi ↔ Evitare suggerimenti poco pertinenti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4115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03F0AAE-8ED6-E7A6-0AD9-F1AEF6A178AE}"/>
              </a:ext>
            </a:extLst>
          </p:cNvPr>
          <p:cNvSpPr txBox="1"/>
          <p:nvPr/>
        </p:nvSpPr>
        <p:spPr>
          <a:xfrm>
            <a:off x="1380744" y="5763391"/>
            <a:ext cx="944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Metodo: Confrontare testo OCR e testo finale, verificando sia gli errori recuperati, sia le correzioni improprie.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B72980D-3D0E-D0B4-EB64-CFBBDDC7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D119-9F84-47EF-845D-FE5861B3D68E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476ED4F-2A7B-93B0-1AD6-31E62B44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48B4AA6-FCE2-847C-C2AC-19052836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38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770209-3B68-EE87-5630-31589A4B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76072"/>
          </a:xfrm>
        </p:spPr>
        <p:txBody>
          <a:bodyPr>
            <a:normAutofit fontScale="90000"/>
          </a:bodyPr>
          <a:lstStyle/>
          <a:p>
            <a:r>
              <a:rPr lang="it-IT" dirty="0"/>
              <a:t>RISULTATI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235A32D-2E2A-7F39-E023-3A8918EC0F68}"/>
              </a:ext>
            </a:extLst>
          </p:cNvPr>
          <p:cNvSpPr txBox="1"/>
          <p:nvPr/>
        </p:nvSpPr>
        <p:spPr>
          <a:xfrm>
            <a:off x="1399032" y="1207008"/>
            <a:ext cx="1013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qualità finale dipende dalla segmentazione, dalla classificazione e dalla correzione linguistica.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7200405-19D8-53EC-A797-998AC5C9E598}"/>
              </a:ext>
            </a:extLst>
          </p:cNvPr>
          <p:cNvSpPr txBox="1"/>
          <p:nvPr/>
        </p:nvSpPr>
        <p:spPr>
          <a:xfrm>
            <a:off x="1481328" y="1538978"/>
            <a:ext cx="949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1) RICONOSCIMENTO CORRETTO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F0960E-4667-304C-4BA1-0BDFEE6A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822F-DDF8-49A1-995B-0FF2E02802D8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B68B913-86EE-150A-3F48-481B433A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18B6E2-1BC9-7CE5-DA04-C0C2A6B3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DB856E2B-4CC9-30B5-0C0E-E8A6CD0A9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86862"/>
              </p:ext>
            </p:extLst>
          </p:nvPr>
        </p:nvGraphicFramePr>
        <p:xfrm>
          <a:off x="1513332" y="1911604"/>
          <a:ext cx="9427464" cy="4161536"/>
        </p:xfrm>
        <a:graphic>
          <a:graphicData uri="http://schemas.openxmlformats.org/drawingml/2006/table">
            <a:tbl>
              <a:tblPr/>
              <a:tblGrid>
                <a:gridCol w="9427464">
                  <a:extLst>
                    <a:ext uri="{9D8B030D-6E8A-4147-A177-3AD203B41FA5}">
                      <a16:colId xmlns:a16="http://schemas.microsoft.com/office/drawing/2014/main" val="803630797"/>
                    </a:ext>
                  </a:extLst>
                </a:gridCol>
              </a:tblGrid>
              <a:tr h="937030">
                <a:tc>
                  <a:txBody>
                    <a:bodyPr/>
                    <a:lstStyle/>
                    <a:p>
                      <a:pPr algn="l"/>
                      <a:r>
                        <a:rPr lang="it-IT" b="1" dirty="0"/>
                        <a:t>IMMAGINE SEGMENTATA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212524"/>
                  </a:ext>
                </a:extLst>
              </a:tr>
              <a:tr h="2256766">
                <a:tc>
                  <a:txBody>
                    <a:bodyPr/>
                    <a:lstStyle/>
                    <a:p>
                      <a:r>
                        <a:rPr lang="it-IT" b="1" dirty="0"/>
                        <a:t>OCR GREZZO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656329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r>
                        <a:rPr lang="it-IT" b="1" dirty="0"/>
                        <a:t>TESTO FINALE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369069"/>
                  </a:ext>
                </a:extLst>
              </a:tr>
            </a:tbl>
          </a:graphicData>
        </a:graphic>
      </p:graphicFrame>
      <p:pic>
        <p:nvPicPr>
          <p:cNvPr id="14" name="Immagine 13">
            <a:extLst>
              <a:ext uri="{FF2B5EF4-FFF2-40B4-BE49-F238E27FC236}">
                <a16:creationId xmlns:a16="http://schemas.microsoft.com/office/drawing/2014/main" id="{B84F786C-C67C-BFA9-20CE-373230E89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415" y="2097548"/>
            <a:ext cx="5947704" cy="64931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DF845E26-A6F6-660F-8D28-6780883E3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654" y="2947243"/>
            <a:ext cx="4279226" cy="1982096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F717A591-4DB5-3525-E3DD-0E80966E0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654" y="5214216"/>
            <a:ext cx="4279226" cy="7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CC88-292D-C0A6-48AD-1EF59B07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A92D35-2AFE-D777-B23B-D599B60A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76072"/>
          </a:xfrm>
        </p:spPr>
        <p:txBody>
          <a:bodyPr>
            <a:normAutofit fontScale="90000"/>
          </a:bodyPr>
          <a:lstStyle/>
          <a:p>
            <a:r>
              <a:rPr lang="it-IT" dirty="0"/>
              <a:t>RISULTATI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E20B617-81C5-DB49-906D-13FEC912C55C}"/>
              </a:ext>
            </a:extLst>
          </p:cNvPr>
          <p:cNvSpPr txBox="1"/>
          <p:nvPr/>
        </p:nvSpPr>
        <p:spPr>
          <a:xfrm>
            <a:off x="1481328" y="1207008"/>
            <a:ext cx="1013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qualità finale dipende dalla segmentazione, dalla classificazione e dalla correzione linguistica.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E80095A-91F1-F109-7BB7-3D2711611A46}"/>
              </a:ext>
            </a:extLst>
          </p:cNvPr>
          <p:cNvSpPr txBox="1"/>
          <p:nvPr/>
        </p:nvSpPr>
        <p:spPr>
          <a:xfrm>
            <a:off x="1481328" y="1538978"/>
            <a:ext cx="949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2) CORREZIONE RIUSCITA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A2D44D-C1B5-2643-299D-9B099094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822F-DDF8-49A1-995B-0FF2E02802D8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18982A-3D4B-F316-4F1D-8579276D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98C39C-DD54-18B8-060F-3682720A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3E81891F-4203-FD8A-F25C-EDEE9417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983738"/>
              </p:ext>
            </p:extLst>
          </p:nvPr>
        </p:nvGraphicFramePr>
        <p:xfrm>
          <a:off x="1513332" y="1911604"/>
          <a:ext cx="9427464" cy="4161536"/>
        </p:xfrm>
        <a:graphic>
          <a:graphicData uri="http://schemas.openxmlformats.org/drawingml/2006/table">
            <a:tbl>
              <a:tblPr/>
              <a:tblGrid>
                <a:gridCol w="9427464">
                  <a:extLst>
                    <a:ext uri="{9D8B030D-6E8A-4147-A177-3AD203B41FA5}">
                      <a16:colId xmlns:a16="http://schemas.microsoft.com/office/drawing/2014/main" val="803630797"/>
                    </a:ext>
                  </a:extLst>
                </a:gridCol>
              </a:tblGrid>
              <a:tr h="937030">
                <a:tc>
                  <a:txBody>
                    <a:bodyPr/>
                    <a:lstStyle/>
                    <a:p>
                      <a:pPr algn="l"/>
                      <a:r>
                        <a:rPr lang="it-IT" b="1" dirty="0"/>
                        <a:t>IMMAGINE SEGMENTATA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212524"/>
                  </a:ext>
                </a:extLst>
              </a:tr>
              <a:tr h="2256766">
                <a:tc>
                  <a:txBody>
                    <a:bodyPr/>
                    <a:lstStyle/>
                    <a:p>
                      <a:r>
                        <a:rPr lang="it-IT" b="1" dirty="0"/>
                        <a:t>OCR GREZZO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656329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r>
                        <a:rPr lang="it-IT" b="1" dirty="0"/>
                        <a:t>TESTO FINALE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369069"/>
                  </a:ext>
                </a:extLst>
              </a:tr>
            </a:tbl>
          </a:graphicData>
        </a:graphic>
      </p:graphicFrame>
      <p:pic>
        <p:nvPicPr>
          <p:cNvPr id="14" name="Immagine 13">
            <a:extLst>
              <a:ext uri="{FF2B5EF4-FFF2-40B4-BE49-F238E27FC236}">
                <a16:creationId xmlns:a16="http://schemas.microsoft.com/office/drawing/2014/main" id="{7CE3866D-DBEF-1407-AE4A-566015BE8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57770" y="2097548"/>
            <a:ext cx="4874993" cy="64931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EE60BFC-B8DB-C9B5-8B34-55F138AC8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55654" y="2950230"/>
            <a:ext cx="4279226" cy="1976121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7BC0755-3835-2707-99D9-D2DE44FC09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8018" y="5220582"/>
            <a:ext cx="3459187" cy="7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9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0FB1-3B43-2025-E427-42F4E029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0137A1-37D0-FB95-7E55-E91039A2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76072"/>
          </a:xfrm>
        </p:spPr>
        <p:txBody>
          <a:bodyPr>
            <a:normAutofit fontScale="90000"/>
          </a:bodyPr>
          <a:lstStyle/>
          <a:p>
            <a:r>
              <a:rPr lang="it-IT" dirty="0"/>
              <a:t>RISULTATI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BB3824-1EA9-C8BD-8377-C90FF2075B3B}"/>
              </a:ext>
            </a:extLst>
          </p:cNvPr>
          <p:cNvSpPr txBox="1"/>
          <p:nvPr/>
        </p:nvSpPr>
        <p:spPr>
          <a:xfrm>
            <a:off x="1481328" y="1207008"/>
            <a:ext cx="1013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qualità finale dipende dalla segmentazione, dalla classificazione e dalla correzione linguistica.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60096CE-19CD-377B-6EFF-61C11A2724FB}"/>
              </a:ext>
            </a:extLst>
          </p:cNvPr>
          <p:cNvSpPr txBox="1"/>
          <p:nvPr/>
        </p:nvSpPr>
        <p:spPr>
          <a:xfrm>
            <a:off x="1481328" y="1538978"/>
            <a:ext cx="949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3) CASO PROBLEMATICO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593D756-2AAF-20BB-812C-577D25A0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822F-DDF8-49A1-995B-0FF2E02802D8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81B53F7-CEA7-1753-00CC-15551D42A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F0B7B9-9BE3-BAD5-39CA-BC40DA1F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98958DD4-6F41-D0A2-57D1-1A66AC02A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186157"/>
              </p:ext>
            </p:extLst>
          </p:nvPr>
        </p:nvGraphicFramePr>
        <p:xfrm>
          <a:off x="1513332" y="1911604"/>
          <a:ext cx="9427464" cy="4161536"/>
        </p:xfrm>
        <a:graphic>
          <a:graphicData uri="http://schemas.openxmlformats.org/drawingml/2006/table">
            <a:tbl>
              <a:tblPr/>
              <a:tblGrid>
                <a:gridCol w="9427464">
                  <a:extLst>
                    <a:ext uri="{9D8B030D-6E8A-4147-A177-3AD203B41FA5}">
                      <a16:colId xmlns:a16="http://schemas.microsoft.com/office/drawing/2014/main" val="803630797"/>
                    </a:ext>
                  </a:extLst>
                </a:gridCol>
              </a:tblGrid>
              <a:tr h="937030">
                <a:tc>
                  <a:txBody>
                    <a:bodyPr/>
                    <a:lstStyle/>
                    <a:p>
                      <a:pPr algn="l"/>
                      <a:r>
                        <a:rPr lang="it-IT" b="1" dirty="0"/>
                        <a:t>IMMAGINE SEGMENTATA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212524"/>
                  </a:ext>
                </a:extLst>
              </a:tr>
              <a:tr h="2256766">
                <a:tc>
                  <a:txBody>
                    <a:bodyPr/>
                    <a:lstStyle/>
                    <a:p>
                      <a:r>
                        <a:rPr lang="it-IT" b="1" dirty="0"/>
                        <a:t>OCR GREZZO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656329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r>
                        <a:rPr lang="it-IT" b="1" dirty="0"/>
                        <a:t>TESTO FINALE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369069"/>
                  </a:ext>
                </a:extLst>
              </a:tr>
            </a:tbl>
          </a:graphicData>
        </a:graphic>
      </p:graphicFrame>
      <p:pic>
        <p:nvPicPr>
          <p:cNvPr id="14" name="Immagine 13">
            <a:extLst>
              <a:ext uri="{FF2B5EF4-FFF2-40B4-BE49-F238E27FC236}">
                <a16:creationId xmlns:a16="http://schemas.microsoft.com/office/drawing/2014/main" id="{171F2F63-1133-A661-418E-D14F6E4176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50358" y="2097548"/>
            <a:ext cx="4489817" cy="64931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DAEF5BD-DA65-BE93-252F-8D9FDA0E5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5506" y="2932804"/>
            <a:ext cx="3439519" cy="1982096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994F399-1AF5-F480-8261-4F7448F84D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52594" y="5230107"/>
            <a:ext cx="3885341" cy="7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1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C53F00-2E89-9416-6A6F-922462D9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DIFFICOLTÀ E SVILUPPI FUTURI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19EF824-3A81-38BA-7413-AE6947C2F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546427"/>
              </p:ext>
            </p:extLst>
          </p:nvPr>
        </p:nvGraphicFramePr>
        <p:xfrm>
          <a:off x="1371600" y="1532001"/>
          <a:ext cx="10241280" cy="379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40595877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404863675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lang="it-IT" sz="1600" dirty="0"/>
                        <a:t>DIFFICOLTÀ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POSSIBILE SVILUPPO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383140"/>
                  </a:ext>
                </a:extLst>
              </a:tr>
              <a:tr h="848487">
                <a:tc>
                  <a:txBody>
                    <a:bodyPr/>
                    <a:lstStyle/>
                    <a:p>
                      <a:r>
                        <a:rPr lang="it-IT" sz="1600" b="1" dirty="0"/>
                        <a:t>Lettere unite o frammentate: </a:t>
                      </a:r>
                      <a:r>
                        <a:rPr lang="it-IT" sz="1600" dirty="0"/>
                        <a:t>difficoltà nell’isolare correttamente i caratteri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Migliorare la segmentazione e valutare modelli che riconoscano intere sequenze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622735"/>
                  </a:ext>
                </a:extLst>
              </a:tr>
              <a:tr h="848487">
                <a:tc>
                  <a:txBody>
                    <a:bodyPr/>
                    <a:lstStyle/>
                    <a:p>
                      <a:r>
                        <a:rPr lang="it-IT" sz="1600" b="1" dirty="0"/>
                        <a:t>Grafie diverse da EMNIST: </a:t>
                      </a:r>
                      <a:r>
                        <a:rPr lang="it-IT" sz="1600" dirty="0"/>
                        <a:t>forme, inclinazioni e spessori differenti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Ampliare il dataset locale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275604"/>
                  </a:ext>
                </a:extLst>
              </a:tr>
              <a:tr h="848487">
                <a:tc>
                  <a:txBody>
                    <a:bodyPr/>
                    <a:lstStyle/>
                    <a:p>
                      <a:r>
                        <a:rPr lang="it-IT" sz="1600" b="1" dirty="0"/>
                        <a:t>Lettere visivamente simili: </a:t>
                      </a:r>
                      <a:r>
                        <a:rPr lang="it-IT" sz="1600" dirty="0"/>
                        <a:t>ambiguità nella classificazione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Analizzare la matrice di confusione e aumentare gli esempi per le classi problematiche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248662"/>
                  </a:ext>
                </a:extLst>
              </a:tr>
              <a:tr h="848487">
                <a:tc>
                  <a:txBody>
                    <a:bodyPr/>
                    <a:lstStyle/>
                    <a:p>
                      <a:r>
                        <a:rPr lang="it-IT" sz="1600" b="1" dirty="0"/>
                        <a:t>Correzioni linguistiche improprie: </a:t>
                      </a:r>
                      <a:r>
                        <a:rPr lang="it-IT" sz="1600" dirty="0"/>
                        <a:t>parole rare o straniere possono essere penalizzate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Ampliare i dizionari e migliorare l’uso del contesto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77140"/>
                  </a:ext>
                </a:extLst>
              </a:tr>
            </a:tbl>
          </a:graphicData>
        </a:graphic>
      </p:graphicFrame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A662CE3-29E3-C641-F297-FF69D8D6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31C1-33FB-460C-89D9-A57E46C5D05F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AD96DE-0C61-7EE9-D563-990959A4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AD30B2-7977-0E06-D5B3-14520DFE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0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1FAA8-FAD9-EEC2-DD8F-8B6F663D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986507-75BB-ED0B-451C-A06C733FC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2916936"/>
            <a:ext cx="8361229" cy="1024128"/>
          </a:xfrm>
        </p:spPr>
        <p:txBody>
          <a:bodyPr/>
          <a:lstStyle/>
          <a:p>
            <a:r>
              <a:rPr lang="it-IT" dirty="0"/>
              <a:t>GRAZIE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5FD67C-00C8-B9C5-D008-DEE94716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06C2-406D-484E-971D-DE5455CD048D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5DB0794-0EAC-3650-2BDF-59CB617C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Work Scuola "Python, Deep Learning and Computer Vision"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7AFF61B-7505-A81D-0D50-F19C31F2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186229"/>
      </p:ext>
    </p:extLst>
  </p:cSld>
  <p:clrMapOvr>
    <a:masterClrMapping/>
  </p:clrMapOvr>
</p:sld>
</file>

<file path=ppt/theme/theme1.xml><?xml version="1.0" encoding="utf-8"?>
<a:theme xmlns:a="http://schemas.openxmlformats.org/drawingml/2006/main" name="Ritaglio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TM10001105[[fn=Ritaglio]]</Template>
  <TotalTime>545</TotalTime>
  <Words>678</Words>
  <Application>Microsoft Office PowerPoint</Application>
  <PresentationFormat>Widescreen</PresentationFormat>
  <Paragraphs>147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Aptos</vt:lpstr>
      <vt:lpstr>Arial</vt:lpstr>
      <vt:lpstr>Cascadia Code</vt:lpstr>
      <vt:lpstr>Franklin Gothic Book</vt:lpstr>
      <vt:lpstr>Ritaglio</vt:lpstr>
      <vt:lpstr>Handwritten text OCR</vt:lpstr>
      <vt:lpstr>INDICE</vt:lpstr>
      <vt:lpstr>INTRODUZIONE</vt:lpstr>
      <vt:lpstr>DATASET - EMNIST</vt:lpstr>
      <vt:lpstr>ARCHITETTURA CNN</vt:lpstr>
      <vt:lpstr>PIPELINE RICONOSCIMENTO</vt:lpstr>
      <vt:lpstr>TUNING SEGMENTAZIONE</vt:lpstr>
      <vt:lpstr>TUNING RICONOSCIMENTO</vt:lpstr>
      <vt:lpstr>RISULTATI</vt:lpstr>
      <vt:lpstr>RISULTATI</vt:lpstr>
      <vt:lpstr>RISULTATI</vt:lpstr>
      <vt:lpstr>DIFFICOLTÀ E SVILUPPI FUTURI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Patrocli, Riccardo</dc:creator>
  <cp:lastModifiedBy>Patrocli, Riccardo</cp:lastModifiedBy>
  <cp:revision>14</cp:revision>
  <dcterms:created xsi:type="dcterms:W3CDTF">2026-10-19T07:14:23Z</dcterms:created>
  <dcterms:modified xsi:type="dcterms:W3CDTF">2026-10-21T12:37:54Z</dcterms:modified>
</cp:coreProperties>
</file>